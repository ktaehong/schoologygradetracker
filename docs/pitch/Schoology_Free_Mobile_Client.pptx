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3840480" cy="3840480"/>
          </a:xfrm>
          <a:prstGeom prst="ellipse">
            <a:avLst/>
          </a:prstGeom>
          <a:solidFill>
            <a:srgbClr val="2B2F5B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B2F5B"/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1051560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2899" y="1191463"/>
            <a:ext cx="543154" cy="5431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DEMOCRATIZING ACADEMIC TRACKING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Free, Feature-Complete Mobile Client for Schoology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77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&amp; Strategic Feasibility Analysis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48156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1248156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the student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31436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4631436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parity with paid tier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14716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014716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token lifecycle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Subscription Wall Around Basic Grade Tracking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0345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9385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Change Notifications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2258568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when a teacher posts or edits a score are locked behind Pro.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136392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20497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1089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Widgets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34290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Glanceable class averages and due dates are unavailable on the free tier.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4375404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427939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Background Sync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234440" y="459943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grade refresh requires an active $4.99/mo subscription.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5321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and college students often lack independent financial means — creating artificial barriers to monitoring their own academic progress.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903720" y="1965960"/>
            <a:ext cx="4736592" cy="3977640"/>
          </a:xfrm>
          <a:prstGeom prst="roundRect">
            <a:avLst>
              <a:gd name="adj" fmla="val 27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52400" dist="50800" dir="5400000">
              <a:srgbClr val="1B1F3B">
                <a:alpha val="25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22376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StudyBuddy Pro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223760" y="26974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$4.99</a:t>
            </a:r>
            <a:endParaRPr lang="en-US" sz="6200" dirty="0"/>
          </a:p>
        </p:txBody>
      </p:sp>
      <p:sp>
        <p:nvSpPr>
          <p:cNvPr id="22" name="Text 16"/>
          <p:cNvSpPr txBox="1"/>
          <p:nvPr/>
        </p:nvSpPr>
        <p:spPr>
          <a:xfrm>
            <a:off x="722376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per student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223760" y="4206240"/>
            <a:ext cx="4114800" cy="18288"/>
          </a:xfrm>
          <a:prstGeom prst="rect">
            <a:avLst/>
          </a:prstGeom>
          <a:solidFill>
            <a:srgbClr val="37406E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223760" y="44348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features competitors give away free — notifications, widgets, and live sync.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Schoology Mobile Client  —  Market Feasibility Analysis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Feature Parity. Zero Cost. Built for Students.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221992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2302459"/>
            <a:ext cx="341986" cy="3419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167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Feature-Complete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834640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Pro-tier capability — notifications, widgets, live sync — unlocked at no cost.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382512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38544" y="2221992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011" y="2302459"/>
            <a:ext cx="341986" cy="3419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96912" y="2167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Architecture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638544" y="2834640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are parsed and stored only on-device; nothing touches a third-party server.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4672" y="4325112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4405579"/>
            <a:ext cx="341986" cy="34198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70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04672" y="4937760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Minimum-score engines, category impact maps, and multi-term GPA forecasting.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382512" y="40690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38544" y="4325112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011" y="4405579"/>
            <a:ext cx="341986" cy="34198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296912" y="4270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Student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638544" y="4937760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and university students, plus parents, across any PowerSchool Schoology district.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Schoology Mobile Client  —  Market Feasibility Analysis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Three-Legged OAuth 1.0a — Credentials Never Leave the School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9808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377440" y="246888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25374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08" y="306324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Login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361188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opens the app and starts sign-in.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3108960" y="31089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3346704" y="228600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547872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175504" y="246888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084" y="25374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547872" y="306324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 District Portal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3547872" y="361188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redirects to the school's own Schoology identity page.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907024" y="31089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6144768" y="228600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6345936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973568" y="246888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148" y="2537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345936" y="306324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Directly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6345936" y="361188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logs in with the school — password never reaches the app.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8705088" y="31089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8942832" y="2286000"/>
            <a:ext cx="254203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9144000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10771632" y="246888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0212" y="253746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144000" y="306324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 Issued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9144000" y="361188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Schoology returns an access token limited to that student's data.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login credentials remain strictly within the school district's administrative domain and are never transmitted to or stored on third-party servers.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Schoology Mobile Client  —  Market Feasibility Analysis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Hash Comparison Replaces Cloud Servers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2295144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" y="2375611"/>
            <a:ext cx="341986" cy="3419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" y="2971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Poll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86384" y="338328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Background Tasks / Android WorkManager fetch grades on a schedule.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97680" y="20574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35424" y="2295144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891" y="2375611"/>
            <a:ext cx="341986" cy="3419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35424" y="2971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Check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4535424" y="338328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hashes the new grade state and compares it to the last saved hash, entirely on-device.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46720" y="20574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84464" y="2295144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931" y="2375611"/>
            <a:ext cx="341986" cy="34198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84464" y="29718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Alert Fires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338328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divergence triggers a native push notification — no server round-trip required.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B1F3B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68680" y="4864608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StudyBuddy maintains middle-tier servers to calculate grade changes and dispatch alerts.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486460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24" name="Text 18"/>
          <p:cNvSpPr txBox="1"/>
          <p:nvPr/>
        </p:nvSpPr>
        <p:spPr>
          <a:xfrm>
            <a:off x="9144000" y="486460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by design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Schoology Mobile Client  —  Market Feasibility Analysis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FERPA-Aligned by a Zero-Knowledge Design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0802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9842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Grade Storage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232257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payloads are parsed in volatile memory and the device's local storage sandbox — plaintext grades never cross to a developer server.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31012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37870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2826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Token Scope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362102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operates strictly within the RBAC boundaries of the student's individual OAuth token, unable to query external district records.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4608576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4677156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45811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Breach Liability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234440" y="49194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no central database of student grades exists, there is nothing for a server-side breach to expose.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635240" y="2011680"/>
            <a:ext cx="4005072" cy="3931920"/>
          </a:xfrm>
          <a:prstGeom prst="roundRect">
            <a:avLst>
              <a:gd name="adj" fmla="val 2791"/>
            </a:avLst>
          </a:prstGeom>
          <a:solidFill>
            <a:srgbClr val="1B1F3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2423160"/>
            <a:ext cx="1188720" cy="11887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863840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FERPA</a:t>
            </a:r>
            <a:endParaRPr lang="en-US" sz="2400" dirty="0"/>
          </a:p>
        </p:txBody>
      </p:sp>
      <p:sp>
        <p:nvSpPr>
          <p:cNvPr id="21" name="Text 14"/>
          <p:cNvSpPr txBox="1"/>
          <p:nvPr/>
        </p:nvSpPr>
        <p:spPr>
          <a:xfrm>
            <a:off x="7955280" y="42976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Educational Rights and Privacy Act — satisfied through architecture, not policy alone.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Schoology Mobile Client  —  Market Feasibility Analysis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LANDSCAPE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Official REST API Integration Wins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3931920"/>
        </p:xfrm>
        <a:graphic>
          <a:graphicData uri="http://schemas.openxmlformats.org/drawingml/2006/table">
            <a:tbl>
              <a:tblPr/>
              <a:tblGrid>
                <a:gridCol w="2651760"/>
                <a:gridCol w="2816352"/>
                <a:gridCol w="2816352"/>
                <a:gridCol w="2807208"/>
              </a:tblGrid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Scraping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LTI 1.0/1.1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3-Legged OAuth 1.0a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password / cookies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1.0a / SAML 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Exposure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exposure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 — direct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exposure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versioned 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breaks on UI updates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within LMS shell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Background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supported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Fragile, unsupported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designed for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Prerequisites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token delegation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(bypasses channels)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District-level 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Schoology Mobile Client  —  Market Feasibility Analysis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Third-Party Schoology Ecosystem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3931920"/>
        </p:xfrm>
        <a:graphic>
          <a:graphicData uri="http://schemas.openxmlformats.org/drawingml/2006/table">
            <a:tbl>
              <a:tblPr/>
              <a:tblGrid>
                <a:gridCol w="2880360"/>
                <a:gridCol w="2331720"/>
                <a:gridCol w="1920240"/>
                <a:gridCol w="3959352"/>
              </a:tblGrid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StudyBuddy (VaultIQ)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iOS, Android, 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$4.99/mo 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 &amp; widgets paywalled; slows during finals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Bessy (Free Apps LLC)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(prev. Android)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Discontinued — pulled from the App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Schoology Plus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/ Edge ext.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Desktop-only; no mobile app or push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Manager / Displayer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extension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feature set; desktop-only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GradeWay for HAC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iOS, iPadOS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$4.99 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 PowerSchool HAC, not native Schoology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Schoology Mobile Client  —  Market Feasibility Analysis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DIFFERENTIATION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Superiority, Delivered Free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1F3B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23060" y="2203704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27" y="2284171"/>
            <a:ext cx="341986" cy="3419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862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Change Notifications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74136" y="19659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1F3B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48556" y="2203704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023" y="2284171"/>
            <a:ext cx="341986" cy="34198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11296" y="2862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Widgets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99632" y="19659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1F3B">
                <a:alpha val="7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274052" y="2203704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519" y="2284171"/>
            <a:ext cx="341986" cy="34198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36792" y="2862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Score Engine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9025128" y="19659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1F3B">
                <a:alpha val="7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10099548" y="2203704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0015" y="2284171"/>
            <a:ext cx="341986" cy="34198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62288" y="2862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Dropping Simulator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8640" y="3913632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1F3B">
                <a:alpha val="7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1623060" y="4151376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3527" y="4231843"/>
            <a:ext cx="341986" cy="34198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85800" y="480974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Grading Scales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3374136" y="3913632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1F3B">
                <a:alpha val="7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48556" y="4151376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9023" y="4231843"/>
            <a:ext cx="341986" cy="34198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511296" y="480974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Category Analytics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6199632" y="3913632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1F3B">
                <a:alpha val="7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274052" y="4151376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4519" y="4231843"/>
            <a:ext cx="341986" cy="34198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336792" y="480974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Priority Planner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9025128" y="3913632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1F3B">
                <a:alpha val="7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10099548" y="4151376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0015" y="4231843"/>
            <a:ext cx="341986" cy="34198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9162288" y="480974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Multi-Term GPA Forecasting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notification &amp; widget parity with StudyBuddy Pro, plus desktop-grade tools from Schoology Plus — ported to mobile for the first time, at no cost.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Schoology Mobile Client  —  Market Feasibility Analysis</a:t>
            </a:r>
            <a:endParaRPr lang="en-US" sz="900" dirty="0"/>
          </a:p>
        </p:txBody>
      </p:sp>
      <p:sp>
        <p:nvSpPr>
          <p:cNvPr id="40" name="Text 29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Governance of Technical &amp; Regulatory Risk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3474720"/>
        </p:xfrm>
        <a:graphic>
          <a:graphicData uri="http://schemas.openxmlformats.org/drawingml/2006/table">
            <a:tbl>
              <a:tblPr/>
              <a:tblGrid>
                <a:gridCol w="3840480"/>
                <a:gridCol w="1737360"/>
                <a:gridCol w="5513832"/>
              </a:tblGrid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Rate Threshold Constraints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polling frequency tuned to usage patterns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Token Expiration (90-day TTL)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re-authorization without losing local settings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 Security Restrictions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3-legged OAuth 1.0a; credentials never stored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Congestion at Finals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Client-side execution offloads bottlenecks to local hardware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Schoology Mobile Client  —  Market Feasibility Analysis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37667"/>
            <a:ext cx="341986" cy="341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Growth Through Student Networks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2198218"/>
            <a:ext cx="404165" cy="4041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880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Recommendation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38328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share academic tools by word-of-mouth; "free vs. $4.99/mo" is a clear, sharable incentive.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79976" y="210312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074" y="2198218"/>
            <a:ext cx="404165" cy="4041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79976" y="2880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Digital Channels</a:t>
            </a:r>
            <a:endParaRPr lang="en-US" sz="1550" dirty="0"/>
          </a:p>
        </p:txBody>
      </p:sp>
      <p:sp>
        <p:nvSpPr>
          <p:cNvPr id="13" name="Text 8"/>
          <p:cNvSpPr txBox="1"/>
          <p:nvPr/>
        </p:nvSpPr>
        <p:spPr>
          <a:xfrm>
            <a:off x="4379976" y="338328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threads, Discord study groups, and campus organizations reach early power users directly.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211312" y="210312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410" y="2198218"/>
            <a:ext cx="404165" cy="40416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211312" y="2880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Transparency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8211312" y="338328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Open-sourcing the parsing engine builds trust that grade data is handled securely, on-device.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Schoology Mobile Client  —  Market Feasibility Analysis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2B2F5B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754880"/>
            <a:ext cx="3474720" cy="3474720"/>
          </a:xfrm>
          <a:prstGeom prst="ellipse">
            <a:avLst/>
          </a:prstGeom>
          <a:solidFill>
            <a:srgbClr val="2B2F5B"/>
          </a:solidFill>
          <a:ln/>
        </p:spPr>
      </p:sp>
      <p:sp>
        <p:nvSpPr>
          <p:cNvPr id="4" name="Shape 2"/>
          <p:cNvSpPr/>
          <p:nvPr/>
        </p:nvSpPr>
        <p:spPr>
          <a:xfrm>
            <a:off x="5728716" y="68580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79552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60020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Opportunity to Disrupt the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Tracking Market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920240" y="306324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446" y="311444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14600" y="299008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notifications, widgets, and live sync — free forever, matching StudyBuddy Pro feature-for-feature.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920240" y="384048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89168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514600" y="37673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execution means $0 cloud infrastructure cost and full FERPA alignment by design.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1920240" y="461772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446" y="466892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514600" y="45445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Desktop-grade tools from Schoology Plus — minimum score engines, grading overrides — finally on mobile.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731520" y="58064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Free. Private. Built for Students.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Democratizing Academic Tracking</dc:title>
  <dc:subject>PptxGenJS Presentation</dc:subject>
  <dc:creator>Market Research</dc:creator>
  <cp:lastModifiedBy>Market Research</cp:lastModifiedBy>
  <cp:revision>1</cp:revision>
  <dcterms:created xsi:type="dcterms:W3CDTF">2026-09-01T22:27:35Z</dcterms:created>
  <dcterms:modified xsi:type="dcterms:W3CDTF">2026-09-01T22:27:35Z</dcterms:modified>
</cp:coreProperties>
</file>